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20" r:id="rId1"/>
  </p:sldMasterIdLst>
  <p:notesMasterIdLst>
    <p:notesMasterId r:id="rId15"/>
  </p:notesMasterIdLst>
  <p:sldIdLst>
    <p:sldId id="256" r:id="rId2"/>
    <p:sldId id="259" r:id="rId3"/>
    <p:sldId id="263" r:id="rId4"/>
    <p:sldId id="260" r:id="rId5"/>
    <p:sldId id="257" r:id="rId6"/>
    <p:sldId id="267" r:id="rId7"/>
    <p:sldId id="258" r:id="rId8"/>
    <p:sldId id="265" r:id="rId9"/>
    <p:sldId id="269" r:id="rId10"/>
    <p:sldId id="261" r:id="rId11"/>
    <p:sldId id="264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8948" autoAdjust="0"/>
    <p:restoredTop sz="94660"/>
  </p:normalViewPr>
  <p:slideViewPr>
    <p:cSldViewPr snapToGrid="0" snapToObjects="1">
      <p:cViewPr>
        <p:scale>
          <a:sx n="60" d="100"/>
          <a:sy n="60" d="100"/>
        </p:scale>
        <p:origin x="-111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B55C4-BA88-47A6-9BB0-49406A184403}" type="datetimeFigureOut">
              <a:rPr lang="pt-BR" smtClean="0"/>
              <a:pPr/>
              <a:t>26/09/2026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9A280-BD94-449D-8238-A838DF54E40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39A280-BD94-449D-8238-A838DF54E40E}" type="slidenum">
              <a:rPr lang="pt-BR" smtClean="0"/>
              <a:pPr/>
              <a:t>8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39A280-BD94-449D-8238-A838DF54E40E}" type="slidenum">
              <a:rPr lang="pt-BR" smtClean="0"/>
              <a:pPr/>
              <a:t>9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Divisa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645920"/>
            <a:ext cx="365760" cy="3291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34"/>
            <a:ext cx="1005840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EA5E9"/>
                </a:solidFill>
                <a:latin typeface="Arial"/>
              </a:defRPr>
            </a:pPr>
            <a:r>
              <a:rPr sz="2400">
                <a:latin typeface="Arial" pitchFamily="34" charset="0"/>
                <a:cs typeface="Arial" pitchFamily="34" charset="0"/>
              </a:rPr>
              <a:t>SISTEMA DE 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CADASTRO COM </a:t>
            </a:r>
            <a:r>
              <a:rPr sz="2400" smtClean="0">
                <a:latin typeface="Arial" pitchFamily="34" charset="0"/>
                <a:cs typeface="Arial" pitchFamily="34" charset="0"/>
              </a:rPr>
              <a:t>AUTENTICAÇÃO </a:t>
            </a:r>
            <a:r>
              <a:rPr sz="2400">
                <a:latin typeface="Arial" pitchFamily="34" charset="0"/>
                <a:cs typeface="Arial" pitchFamily="34" charset="0"/>
              </a:rPr>
              <a:t>E CRUD EM PHP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sz="2400">
                <a:latin typeface="Arial" pitchFamily="34" charset="0"/>
                <a:cs typeface="Arial" pitchFamily="34" charset="0"/>
              </a:rPr>
              <a:t>Projeto Lista de </a:t>
            </a:r>
            <a:r>
              <a:rPr sz="2400" smtClean="0">
                <a:latin typeface="Arial" pitchFamily="34" charset="0"/>
                <a:cs typeface="Arial" pitchFamily="34" charset="0"/>
              </a:rPr>
              <a:t>Amigos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 da </a:t>
            </a:r>
            <a:r>
              <a:rPr lang="pt-BR" sz="2400" dirty="0" err="1" smtClean="0">
                <a:latin typeface="Arial" pitchFamily="34" charset="0"/>
                <a:cs typeface="Arial" pitchFamily="34" charset="0"/>
              </a:rPr>
              <a:t>Gabi</a:t>
            </a:r>
            <a:endParaRPr sz="2400">
              <a:latin typeface="Arial" pitchFamily="34" charset="0"/>
              <a:cs typeface="Arial" pitchFamily="34" charset="0"/>
            </a:endParaRPr>
          </a:p>
          <a:p>
            <a:pPr>
              <a:defRPr sz="1600">
                <a:solidFill>
                  <a:srgbClr val="CBD5E1"/>
                </a:solidFill>
                <a:latin typeface="Arial"/>
              </a:defRPr>
            </a:pPr>
            <a:r>
              <a:rPr sz="240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Apresentação </a:t>
            </a:r>
            <a:r>
              <a:rPr sz="240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Técnica do Projeto </a:t>
            </a:r>
            <a:r>
              <a:rPr lang="pt-BR" sz="2400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de Desenvolvimento de Sistemas II</a:t>
            </a:r>
            <a:r>
              <a:rPr sz="240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sz="240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</a:br>
            <a:r>
              <a:rPr sz="240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Desenvolvido por: </a:t>
            </a:r>
            <a:r>
              <a:rPr lang="pt-BR" sz="2400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Marcos Paulo Correa </a:t>
            </a:r>
            <a:r>
              <a:rPr sz="240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pt-BR" sz="2400" dirty="0" smtClean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600">
                <a:solidFill>
                  <a:srgbClr val="CBD5E1"/>
                </a:solidFill>
                <a:latin typeface="Arial"/>
              </a:defRPr>
            </a:pPr>
            <a:r>
              <a:rPr sz="240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Orientação</a:t>
            </a:r>
            <a:r>
              <a:rPr sz="240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sz="240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Prof</a:t>
            </a:r>
            <a:r>
              <a:rPr lang="pt-BR" sz="2400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essor : </a:t>
            </a:r>
            <a:r>
              <a:rPr sz="240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 A</a:t>
            </a:r>
            <a:r>
              <a:rPr lang="pt-BR" sz="2400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rgeli Pedro de Lima</a:t>
            </a:r>
            <a:endParaRPr sz="240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O fluxo de login valida credenciais no banco de dados e inicializa a sessão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3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4F46E5"/>
                </a:solidFill>
                <a:latin typeface="Georgia"/>
              </a:defRPr>
            </a:pPr>
            <a:r>
              <a:rPr sz="2000">
                <a:latin typeface="Arial" pitchFamily="34" charset="0"/>
                <a:cs typeface="Arial" pitchFamily="34" charset="0"/>
              </a:rPr>
              <a:t>1. Formulário (index.php)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>
                <a:latin typeface="Arial" pitchFamily="34" charset="0"/>
                <a:cs typeface="Arial" pitchFamily="34" charset="0"/>
              </a:rPr>
              <a:t>Captura do usuário e senha através de campos de texto com type="password" e método POST.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4F46E5"/>
                </a:solidFill>
                <a:latin typeface="Georgia"/>
              </a:defRPr>
            </a:pPr>
            <a:r>
              <a:rPr sz="2000">
                <a:latin typeface="Arial" pitchFamily="34" charset="0"/>
                <a:cs typeface="Arial" pitchFamily="34" charset="0"/>
              </a:rPr>
              <a:t>2. Consulta SQL (loginAction.php)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>
                <a:latin typeface="Arial" pitchFamily="34" charset="0"/>
                <a:cs typeface="Arial" pitchFamily="34" charset="0"/>
              </a:rPr>
              <a:t>Importa conexaoBD.php via require_once e executa SELECT para buscar a senha do usuário</a:t>
            </a:r>
            <a:r>
              <a:rPr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4F46E5"/>
                </a:solidFill>
                <a:latin typeface="Georgia"/>
              </a:defRPr>
            </a:pPr>
            <a:r>
              <a:rPr sz="2000">
                <a:latin typeface="Arial" pitchFamily="34" charset="0"/>
                <a:cs typeface="Arial" pitchFamily="34" charset="0"/>
              </a:rPr>
              <a:t>3. Gravação da Sessão ($_SESSION)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>
                <a:latin typeface="Arial" pitchFamily="34" charset="0"/>
                <a:cs typeface="Arial" pitchFamily="34" charset="0"/>
              </a:rPr>
              <a:t>Se a senha for válida, grava $_SESSION['logado'] = $nome e libera acesso ao sistema.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645920"/>
            <a:ext cx="365760" cy="3291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6838" y="1171575"/>
            <a:ext cx="4710112" cy="4581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aixaDeTexto 4"/>
          <p:cNvSpPr txBox="1"/>
          <p:nvPr/>
        </p:nvSpPr>
        <p:spPr>
          <a:xfrm>
            <a:off x="1625019" y="5568322"/>
            <a:ext cx="4680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Figura 01:Tela inicial </a:t>
            </a:r>
            <a:r>
              <a:rPr lang="pt-BR" dirty="0" err="1" smtClean="0"/>
              <a:t>login</a:t>
            </a: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05550" y="1171575"/>
            <a:ext cx="5087510" cy="170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CaixaDeTexto 8"/>
          <p:cNvSpPr txBox="1"/>
          <p:nvPr/>
        </p:nvSpPr>
        <p:spPr>
          <a:xfrm>
            <a:off x="6712529" y="2511980"/>
            <a:ext cx="4680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Figura 02: confirmação de </a:t>
            </a:r>
            <a:r>
              <a:rPr lang="pt-BR" dirty="0" err="1" smtClean="0"/>
              <a:t>login</a:t>
            </a:r>
            <a:r>
              <a:rPr lang="pt-BR" dirty="0" smtClean="0"/>
              <a:t> correto </a:t>
            </a:r>
            <a:endParaRPr lang="pt-BR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12529" y="3520123"/>
            <a:ext cx="3679825" cy="1417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CaixaDeTexto 10"/>
          <p:cNvSpPr txBox="1"/>
          <p:nvPr/>
        </p:nvSpPr>
        <p:spPr>
          <a:xfrm>
            <a:off x="6712529" y="4753094"/>
            <a:ext cx="4680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Figura 03: Aviso de </a:t>
            </a:r>
            <a:r>
              <a:rPr lang="pt-BR" dirty="0" err="1" smtClean="0"/>
              <a:t>login</a:t>
            </a:r>
            <a:r>
              <a:rPr lang="pt-BR" dirty="0" smtClean="0"/>
              <a:t> incorreto </a:t>
            </a:r>
            <a:endParaRPr lang="pt-BR" dirty="0"/>
          </a:p>
        </p:txBody>
      </p:sp>
      <p:sp>
        <p:nvSpPr>
          <p:cNvPr id="1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rPr>
                <a:latin typeface="Arial" pitchFamily="34" charset="0"/>
                <a:cs typeface="Arial" pitchFamily="34" charset="0"/>
              </a:rPr>
              <a:t>O script verificarAcesso.php previne o acesso direto por URL a páginas restritas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3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rPr>
                <a:latin typeface="Arial" pitchFamily="34" charset="0"/>
                <a:cs typeface="Arial" pitchFamily="34" charset="0"/>
              </a:rPr>
              <a:t>Por que o HTTP precisa de Sessões?</a:t>
            </a:r>
          </a:p>
          <a:p>
            <a:pPr>
              <a:spcAft>
                <a:spcPts val="800"/>
              </a:spcAft>
              <a:defRPr sz="1200" b="1">
                <a:solidFill>
                  <a:srgbClr val="4F46E5"/>
                </a:solidFill>
              </a:defRPr>
            </a:pPr>
            <a:r>
              <a:rPr sz="1400">
                <a:latin typeface="Arial" pitchFamily="34" charset="0"/>
                <a:cs typeface="Arial" pitchFamily="34" charset="0"/>
              </a:rPr>
              <a:t>• Protocolo Stateless: </a:t>
            </a:r>
            <a:r>
              <a:rPr sz="1400" b="0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O HTTP não memoriza o estado do usuário entre requisições. Sem sessão, cada nova página 'esquece' quem está navegando.</a:t>
            </a:r>
          </a:p>
          <a:p>
            <a:pPr>
              <a:spcAft>
                <a:spcPts val="800"/>
              </a:spcAft>
              <a:defRPr sz="1200" b="1">
                <a:solidFill>
                  <a:srgbClr val="4F46E5"/>
                </a:solidFill>
              </a:defRPr>
            </a:pPr>
            <a:r>
              <a:rPr sz="1400">
                <a:latin typeface="Arial" pitchFamily="34" charset="0"/>
                <a:cs typeface="Arial" pitchFamily="34" charset="0"/>
              </a:rPr>
              <a:t>• Sessão em PHP: </a:t>
            </a:r>
            <a:r>
              <a:rPr sz="1400" b="0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session_start() habilita o array global $_SESSION para armazenar informações persistentes durante a navegação.</a:t>
            </a:r>
          </a:p>
          <a:p>
            <a:pPr>
              <a:spcAft>
                <a:spcPts val="800"/>
              </a:spcAft>
              <a:defRPr sz="1200" b="1">
                <a:solidFill>
                  <a:srgbClr val="4F46E5"/>
                </a:solidFill>
              </a:defRPr>
            </a:pPr>
            <a:r>
              <a:rPr sz="1400">
                <a:latin typeface="Arial" pitchFamily="34" charset="0"/>
                <a:cs typeface="Arial" pitchFamily="34" charset="0"/>
              </a:rPr>
              <a:t>• Script Guarda: </a:t>
            </a:r>
            <a:r>
              <a:rPr sz="1400" b="0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O arquivo verificarAcesso.php checa se $_SESSION['logado'] está ativa antes de carregar o conteúdo restrito.</a:t>
            </a:r>
          </a:p>
          <a:p>
            <a:pPr>
              <a:spcAft>
                <a:spcPts val="800"/>
              </a:spcAft>
              <a:defRPr sz="1200" b="1">
                <a:solidFill>
                  <a:srgbClr val="4F46E5"/>
                </a:solidFill>
              </a:defRPr>
            </a:pPr>
            <a:r>
              <a:rPr sz="1400">
                <a:latin typeface="Arial" pitchFamily="34" charset="0"/>
                <a:cs typeface="Arial" pitchFamily="34" charset="0"/>
              </a:rPr>
              <a:t>• Bloqueio Imediato: </a:t>
            </a:r>
            <a:r>
              <a:rPr sz="1400" b="0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Se a sessão não existir, dispara header('location:acessoNegado.php') e encerra o script com die().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EA5E9"/>
                </a:solidFill>
                <a:latin typeface="Arial"/>
              </a:defRPr>
            </a:pPr>
            <a:r>
              <a:rPr sz="16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Código do verificarAcesso.php</a:t>
            </a:r>
          </a:p>
          <a:p>
            <a:pPr>
              <a:defRPr sz="1200">
                <a:solidFill>
                  <a:srgbClr val="E2E8F0"/>
                </a:solidFill>
                <a:latin typeface="Courier New"/>
              </a:defRPr>
            </a:pP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&lt;?php</a:t>
            </a:r>
            <a:b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if(!isset($_SESSION)) {</a:t>
            </a:r>
            <a:b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session_start();</a:t>
            </a:r>
            <a:b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}</a:t>
            </a:r>
            <a:b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if((!isset($_SESSION['logado']) == true)) {</a:t>
            </a:r>
            <a:b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header('location:acessoNegado.php');</a:t>
            </a:r>
            <a:b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die();</a:t>
            </a:r>
            <a:b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}</a:t>
            </a:r>
            <a:b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?&gt;</a:t>
            </a:r>
            <a:b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// Em cada página protegida:</a:t>
            </a:r>
            <a:b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&lt;?php require_once('verificarAcesso.php'); ?&gt;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rPr>
                <a:latin typeface="Arial" pitchFamily="34" charset="0"/>
                <a:cs typeface="Arial" pitchFamily="34" charset="0"/>
              </a:rPr>
              <a:t>A modularização com require_once garante reuso limpo e previne falhas graves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3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rPr sz="1600">
                <a:latin typeface="Arial" pitchFamily="34" charset="0"/>
                <a:cs typeface="Arial" pitchFamily="34" charset="0"/>
              </a:rPr>
              <a:t>Funções de Importação em PHP</a:t>
            </a:r>
          </a:p>
          <a:p>
            <a:pPr>
              <a:spcAft>
                <a:spcPts val="1000"/>
              </a:spcAft>
              <a:defRPr sz="1300" b="1">
                <a:solidFill>
                  <a:srgbClr val="4F46E5"/>
                </a:solidFill>
              </a:defRPr>
            </a:pPr>
            <a:r>
              <a:rPr sz="1600">
                <a:latin typeface="Arial" pitchFamily="34" charset="0"/>
                <a:cs typeface="Arial" pitchFamily="34" charset="0"/>
              </a:rPr>
              <a:t>• include() / include_once(): </a:t>
            </a:r>
            <a:r>
              <a:rPr sz="1600" b="0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Emite um aviso (Warning) em caso de erro, mas NÃO interrompe a execução da página. Permite envio de parâmetros via GET.</a:t>
            </a:r>
          </a:p>
          <a:p>
            <a:pPr>
              <a:spcAft>
                <a:spcPts val="1000"/>
              </a:spcAft>
              <a:defRPr sz="1300" b="1">
                <a:solidFill>
                  <a:srgbClr val="4F46E5"/>
                </a:solidFill>
              </a:defRPr>
            </a:pPr>
            <a:r>
              <a:rPr sz="1600">
                <a:latin typeface="Arial" pitchFamily="34" charset="0"/>
                <a:cs typeface="Arial" pitchFamily="34" charset="0"/>
              </a:rPr>
              <a:t>• require() / require_once(): </a:t>
            </a:r>
            <a:r>
              <a:rPr sz="1600" b="0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Emite um Erro Fatal (Fatal Error) e interrompe imediatamente o script. Usado para arquivos indispensáveis como conexões de BD.</a:t>
            </a:r>
          </a:p>
          <a:p>
            <a:pPr>
              <a:spcAft>
                <a:spcPts val="1000"/>
              </a:spcAft>
              <a:defRPr sz="1300" b="1">
                <a:solidFill>
                  <a:srgbClr val="4F46E5"/>
                </a:solidFill>
              </a:defRPr>
            </a:pPr>
            <a:r>
              <a:rPr sz="1600">
                <a:latin typeface="Arial" pitchFamily="34" charset="0"/>
                <a:cs typeface="Arial" pitchFamily="34" charset="0"/>
              </a:rPr>
              <a:t>• Sufixo _once: </a:t>
            </a:r>
            <a:r>
              <a:rPr sz="1600" b="0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Verifica se o arquivo já foi carregado no fluxo, evitando reimportações e sobrescrita acidental de variáveis.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rPr sz="1600">
                <a:latin typeface="Arial" pitchFamily="34" charset="0"/>
                <a:cs typeface="Arial" pitchFamily="34" charset="0"/>
              </a:rPr>
              <a:t>Modularização do Layout</a:t>
            </a:r>
          </a:p>
          <a:p>
            <a:pPr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rPr sz="1600">
                <a:latin typeface="Arial" pitchFamily="34" charset="0"/>
                <a:cs typeface="Arial" pitchFamily="34" charset="0"/>
              </a:rPr>
              <a:t>• cabecalho.php: </a:t>
            </a:r>
            <a:r>
              <a:rPr sz="1600" b="0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Concentra as tags &lt;head&gt;, estilos CSS (W3.CSS) e a barra de navegação superior da aplicação.</a:t>
            </a:r>
          </a:p>
          <a:p>
            <a:pPr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rPr sz="1600">
                <a:latin typeface="Arial" pitchFamily="34" charset="0"/>
                <a:cs typeface="Arial" pitchFamily="34" charset="0"/>
              </a:rPr>
              <a:t>• rodape.php: </a:t>
            </a:r>
            <a:r>
              <a:rPr sz="1600" b="0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Fecha as tags do documento HTML e insere scripts globais e direitos autorais.</a:t>
            </a:r>
          </a:p>
          <a:p>
            <a:pPr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rPr sz="1600">
                <a:latin typeface="Arial" pitchFamily="34" charset="0"/>
                <a:cs typeface="Arial" pitchFamily="34" charset="0"/>
              </a:rPr>
              <a:t>• Ganho de Produtividade: </a:t>
            </a:r>
            <a:r>
              <a:rPr sz="1600" b="0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Qualquer alteração visual no cabeçalho ou rodapé é feita em um só lugar e se reflete em todo o sistema.</a:t>
            </a:r>
          </a:p>
          <a:p>
            <a:pPr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rPr sz="1600">
                <a:latin typeface="Arial" pitchFamily="34" charset="0"/>
                <a:cs typeface="Arial" pitchFamily="34" charset="0"/>
              </a:rPr>
              <a:t>• Padrão de Inclusão: </a:t>
            </a:r>
            <a:r>
              <a:rPr sz="1600" b="0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As páginas importam o topo e o rodapé mantendo a área de conteúdo central limpa e focada no CRUD.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8444" y="805104"/>
            <a:ext cx="5011839" cy="314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3434" y="805104"/>
            <a:ext cx="3882186" cy="29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CaixaDeTexto 3"/>
          <p:cNvSpPr txBox="1"/>
          <p:nvPr/>
        </p:nvSpPr>
        <p:spPr>
          <a:xfrm>
            <a:off x="446746" y="3715473"/>
            <a:ext cx="4859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Figura 04:Tela cadastro de novos usuários do sistema de contatos de amigos </a:t>
            </a:r>
            <a:endParaRPr lang="pt-BR" sz="14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6331352" y="3930917"/>
            <a:ext cx="4859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Figura 05: banco de dados do cadastro de </a:t>
            </a:r>
            <a:r>
              <a:rPr lang="pt-BR" sz="1200" dirty="0" err="1" smtClean="0"/>
              <a:t>login</a:t>
            </a:r>
            <a:endParaRPr lang="pt-BR" sz="12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06592" y="5207227"/>
            <a:ext cx="4051139" cy="165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aixaDeTexto 6"/>
          <p:cNvSpPr txBox="1"/>
          <p:nvPr/>
        </p:nvSpPr>
        <p:spPr>
          <a:xfrm>
            <a:off x="6664280" y="6215605"/>
            <a:ext cx="48598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/>
              <a:t>Figura 06: confirmação de cadastro</a:t>
            </a:r>
            <a:endParaRPr lang="pt-BR" sz="1100" dirty="0"/>
          </a:p>
        </p:txBody>
      </p:sp>
      <p:sp>
        <p:nvSpPr>
          <p:cNvPr id="8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rPr>
                <a:latin typeface="Arial" pitchFamily="34" charset="0"/>
                <a:cs typeface="Arial" pitchFamily="34" charset="0"/>
              </a:rPr>
              <a:t>A conexão centralizada em conexaoBD.php facilita a manutenção e evita código duplicado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3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rPr sz="1600">
                <a:latin typeface="Arial" pitchFamily="34" charset="0"/>
                <a:cs typeface="Arial" pitchFamily="34" charset="0"/>
              </a:rPr>
              <a:t>PONTO ÚNICO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rPr>
                <a:latin typeface="Arial" pitchFamily="34" charset="0"/>
                <a:cs typeface="Arial" pitchFamily="34" charset="0"/>
              </a:rPr>
              <a:t>conexaoBD.php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Instancia a conexão com o MySQL via driver mysqli no servidor local.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rPr sz="1600">
                <a:latin typeface="Arial" pitchFamily="34" charset="0"/>
                <a:cs typeface="Arial" pitchFamily="34" charset="0"/>
              </a:rPr>
              <a:t>MANUTENÇÃO SIMPLES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rPr>
                <a:latin typeface="Arial" pitchFamily="34" charset="0"/>
                <a:cs typeface="Arial" pitchFamily="34" charset="0"/>
              </a:rPr>
              <a:t>1 Único Arquivo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Mudar senha ou banco exige alteração em apenas um local do projeto.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rPr sz="1600">
                <a:latin typeface="Arial" pitchFamily="34" charset="0"/>
                <a:cs typeface="Arial" pitchFamily="34" charset="0"/>
              </a:rPr>
              <a:t>INCLUSÃO SEGURA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rPr>
                <a:latin typeface="Arial" pitchFamily="34" charset="0"/>
                <a:cs typeface="Arial" pitchFamily="34" charset="0"/>
              </a:rPr>
              <a:t>require_once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Garante que o banco seja conectado antes de executar consultas 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58811" y="3840480"/>
            <a:ext cx="8898679" cy="2286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EA5E9"/>
                </a:solidFill>
                <a:latin typeface="Arial"/>
              </a:defRPr>
            </a:pPr>
            <a:r>
              <a:rPr sz="2400">
                <a:solidFill>
                  <a:schemeClr val="tx1"/>
                </a:solidFill>
              </a:rPr>
              <a:t>Exemplo Prático — conexaoBD.php</a:t>
            </a:r>
          </a:p>
          <a:p>
            <a:pPr>
              <a:defRPr sz="1300">
                <a:solidFill>
                  <a:srgbClr val="E2E8F0"/>
                </a:solidFill>
                <a:latin typeface="Courier New"/>
              </a:defRPr>
            </a:pPr>
            <a: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&lt;?php</a:t>
            </a:r>
            <a:b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$servername = "localhost";</a:t>
            </a:r>
            <a:b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$username = "root";</a:t>
            </a:r>
            <a:b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$password = "";</a:t>
            </a:r>
            <a:b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$dbname = "pwii";</a:t>
            </a:r>
            <a:b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$conexao = new mysqli($servername, $username, $password, $dbname);</a:t>
            </a:r>
            <a:b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?&gt;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731520" y="364272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66588" y="4024070"/>
            <a:ext cx="4406677" cy="1796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22179" y="4024070"/>
            <a:ext cx="3926827" cy="1657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aixaDeTexto 6"/>
          <p:cNvSpPr txBox="1"/>
          <p:nvPr/>
        </p:nvSpPr>
        <p:spPr>
          <a:xfrm>
            <a:off x="3881662" y="3562405"/>
            <a:ext cx="4859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Figura 07: tela principal de cadastro e listagem de contatos de amigos </a:t>
            </a:r>
            <a:endParaRPr lang="pt-BR" sz="12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1922179" y="5681685"/>
            <a:ext cx="4859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Figura 08: tela de cadastro de novos amigos na lista de contatos </a:t>
            </a:r>
            <a:endParaRPr lang="pt-BR" sz="12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7066588" y="5866351"/>
            <a:ext cx="4859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Figura 09: tela de listagem de amigos cadastrados</a:t>
            </a:r>
            <a:endParaRPr lang="pt-BR" sz="1200" dirty="0"/>
          </a:p>
        </p:txBody>
      </p:sp>
      <p:sp>
        <p:nvSpPr>
          <p:cNvPr id="14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46331" y="519648"/>
            <a:ext cx="4129143" cy="3042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4146330" y="5060731"/>
            <a:ext cx="61624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Figura 07: tela principal de cadastro e listagem de contatos de amigos foi implementado botão de sair (</a:t>
            </a:r>
            <a:r>
              <a:rPr lang="pt-BR" dirty="0" err="1" smtClean="0"/>
              <a:t>logout</a:t>
            </a:r>
            <a:r>
              <a:rPr lang="pt-BR" dirty="0" smtClean="0"/>
              <a:t>) para encerrar e voltar para tela de </a:t>
            </a:r>
            <a:r>
              <a:rPr lang="pt-BR" dirty="0" err="1" smtClean="0"/>
              <a:t>login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14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31477" y="519648"/>
            <a:ext cx="6777286" cy="454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O CRUD de Amigos combina formulários, consultas SQL e iteração dinâmica em HTML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3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92D05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100" b="1">
                <a:solidFill>
                  <a:srgbClr val="4F46E5"/>
                </a:solidFill>
                <a:latin typeface="Arial"/>
              </a:defRPr>
            </a:pPr>
            <a:r>
              <a:rPr sz="2400">
                <a:solidFill>
                  <a:srgbClr val="00B050"/>
                </a:solidFill>
              </a:rPr>
              <a:t>C — CREATE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rPr>
                <a:solidFill>
                  <a:srgbClr val="00B050"/>
                </a:solidFill>
              </a:rPr>
              <a:t>Cadastro de Amigos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2000">
                <a:solidFill>
                  <a:schemeClr val="tx1"/>
                </a:solidFill>
              </a:rPr>
              <a:t>Formulário envia dados via POST para cadastroAction.php, executando o comando SQL INSERT INTO no MySQL.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057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cmpd="thinThick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100" b="1">
                <a:solidFill>
                  <a:srgbClr val="4F46E5"/>
                </a:solidFill>
                <a:latin typeface="Arial"/>
              </a:defRPr>
            </a:pPr>
            <a:r>
              <a:rPr sz="2000">
                <a:solidFill>
                  <a:srgbClr val="FFFF00"/>
                </a:solidFill>
              </a:rPr>
              <a:t>R — READ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rPr>
                <a:solidFill>
                  <a:srgbClr val="FFFF00"/>
                </a:solidFill>
              </a:rPr>
              <a:t>Listagem de Registro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2000">
                <a:solidFill>
                  <a:schemeClr val="tx1"/>
                </a:solidFill>
              </a:rPr>
              <a:t>principal.php lê registros do banco com SELECT e itera usando foreach para construir as linhas &lt;tr&gt; da tabela.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057400"/>
          </a:xfrm>
          <a:prstGeom prst="roundRect">
            <a:avLst/>
          </a:prstGeom>
          <a:solidFill>
            <a:srgbClr val="00B0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100" b="1">
                <a:solidFill>
                  <a:srgbClr val="4F46E5"/>
                </a:solidFill>
                <a:latin typeface="Arial"/>
              </a:defRPr>
            </a:pPr>
            <a:r>
              <a:rPr sz="2000" smtClean="0">
                <a:solidFill>
                  <a:srgbClr val="0070C0"/>
                </a:solidFill>
              </a:rPr>
              <a:t>U — UPDATE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rPr smtClean="0">
                <a:solidFill>
                  <a:srgbClr val="0070C0"/>
                </a:solidFill>
              </a:rPr>
              <a:t>Atualização de Dados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2000" smtClean="0">
                <a:solidFill>
                  <a:schemeClr val="tx1"/>
                </a:solidFill>
              </a:rPr>
              <a:t>Formulário </a:t>
            </a:r>
            <a:r>
              <a:rPr sz="2000">
                <a:solidFill>
                  <a:schemeClr val="tx1"/>
                </a:solidFill>
              </a:rPr>
              <a:t>de edição busca os dados do amigo pelo ID e dispara alterarAction.php com o comando UPDATE.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5120640" cy="2057400"/>
          </a:xfrm>
          <a:prstGeom prst="roundRect">
            <a:avLst/>
          </a:prstGeom>
          <a:solidFill>
            <a:srgbClr val="C0000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100" b="1">
                <a:solidFill>
                  <a:srgbClr val="4F46E5"/>
                </a:solidFill>
                <a:latin typeface="Arial"/>
              </a:defRPr>
            </a:pPr>
            <a:r>
              <a:rPr sz="2000">
                <a:solidFill>
                  <a:srgbClr val="FF0000"/>
                </a:solidFill>
              </a:rPr>
              <a:t>D — DELETE</a:t>
            </a:r>
          </a:p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rPr>
                <a:solidFill>
                  <a:srgbClr val="FF0000"/>
                </a:solidFill>
              </a:rPr>
              <a:t>Exclusão de Registros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2000">
                <a:solidFill>
                  <a:schemeClr val="tx1"/>
                </a:solidFill>
              </a:rPr>
              <a:t>Botão de remoção envia o ID do amigo para excluirAction.php, executando o comando SQL DELETE FROM.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5514" y="824757"/>
            <a:ext cx="4419814" cy="3527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98543" y="1122491"/>
            <a:ext cx="3717019" cy="1992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1067" y="3993266"/>
            <a:ext cx="5987346" cy="2144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eta para a direita 7"/>
          <p:cNvSpPr/>
          <p:nvPr/>
        </p:nvSpPr>
        <p:spPr>
          <a:xfrm>
            <a:off x="5125328" y="211891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 para baixo 8"/>
          <p:cNvSpPr/>
          <p:nvPr/>
        </p:nvSpPr>
        <p:spPr>
          <a:xfrm>
            <a:off x="7790514" y="2879029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265482" y="4352080"/>
            <a:ext cx="4859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Figura 10: Adicionando novo cadastro</a:t>
            </a:r>
            <a:endParaRPr lang="pt-BR" sz="12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6398543" y="2465051"/>
            <a:ext cx="4859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Figura 11: tela de  confirmação de cadastro</a:t>
            </a:r>
            <a:endParaRPr lang="pt-BR" sz="1200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5845223" y="5999398"/>
            <a:ext cx="4859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Figura 12: tela de  listagem de cadastro</a:t>
            </a:r>
            <a:endParaRPr lang="pt-BR" sz="1200" dirty="0"/>
          </a:p>
        </p:txBody>
      </p:sp>
      <p:sp>
        <p:nvSpPr>
          <p:cNvPr id="13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ta para a direita 7"/>
          <p:cNvSpPr/>
          <p:nvPr/>
        </p:nvSpPr>
        <p:spPr>
          <a:xfrm>
            <a:off x="5125328" y="211891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 para baixo 8"/>
          <p:cNvSpPr/>
          <p:nvPr/>
        </p:nvSpPr>
        <p:spPr>
          <a:xfrm>
            <a:off x="7790514" y="2879029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265482" y="4352080"/>
            <a:ext cx="4859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Figura 13: Excluindo  linha de cadastro</a:t>
            </a:r>
            <a:endParaRPr lang="pt-BR" sz="12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6398543" y="2465051"/>
            <a:ext cx="4859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Figura 14: tela de  confirmação de exclusão</a:t>
            </a:r>
            <a:endParaRPr lang="pt-BR" sz="1200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5845223" y="5999398"/>
            <a:ext cx="4859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Figura 15: tela de  listagem de cadastro  linha foi excluída</a:t>
            </a:r>
            <a:endParaRPr lang="pt-BR" sz="1200" dirty="0"/>
          </a:p>
        </p:txBody>
      </p:sp>
      <p:sp>
        <p:nvSpPr>
          <p:cNvPr id="13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1520" y="1217714"/>
            <a:ext cx="3096172" cy="304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68586" y="1442759"/>
            <a:ext cx="3613120" cy="835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90852" y="3889652"/>
            <a:ext cx="5349414" cy="180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Encerramento seguro com logoutAction.php e considerações finais da aplicação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30" y="141732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rPr sz="1600"/>
              <a:t>Fluxo de Logout (logoutAction.php)</a:t>
            </a:r>
          </a:p>
          <a:p>
            <a:pPr>
              <a:spcAft>
                <a:spcPts val="1000"/>
              </a:spcAft>
              <a:defRPr sz="1200" b="1">
                <a:solidFill>
                  <a:srgbClr val="4F46E5"/>
                </a:solidFill>
              </a:defRPr>
            </a:pPr>
            <a:r>
              <a:rPr sz="1600"/>
              <a:t>• Importação de Segurança: </a:t>
            </a:r>
            <a:r>
              <a:rPr sz="1600" b="0">
                <a:solidFill>
                  <a:srgbClr val="0F172A"/>
                </a:solidFill>
              </a:rPr>
              <a:t>O script começa executando require_once('verificarAcesso.php') para garantir contexto válido.</a:t>
            </a:r>
          </a:p>
          <a:p>
            <a:pPr>
              <a:spcAft>
                <a:spcPts val="1000"/>
              </a:spcAft>
              <a:defRPr sz="1200" b="1">
                <a:solidFill>
                  <a:srgbClr val="4F46E5"/>
                </a:solidFill>
              </a:defRPr>
            </a:pPr>
            <a:r>
              <a:rPr sz="1600"/>
              <a:t>• Destruição da Variável: </a:t>
            </a:r>
            <a:r>
              <a:rPr sz="1600" b="0">
                <a:solidFill>
                  <a:srgbClr val="0F172A"/>
                </a:solidFill>
              </a:rPr>
              <a:t>A função unset($_SESSION['logado']) remove o identificador de login do usuário da memória do servidor.</a:t>
            </a:r>
          </a:p>
          <a:p>
            <a:pPr>
              <a:spcAft>
                <a:spcPts val="1000"/>
              </a:spcAft>
              <a:defRPr sz="1200" b="1">
                <a:solidFill>
                  <a:srgbClr val="4F46E5"/>
                </a:solidFill>
              </a:defRPr>
            </a:pPr>
            <a:r>
              <a:rPr sz="1600"/>
              <a:t>• Redirecionamento Limpo: </a:t>
            </a:r>
            <a:r>
              <a:rPr sz="1600" b="0">
                <a:solidFill>
                  <a:srgbClr val="0F172A"/>
                </a:solidFill>
              </a:rPr>
              <a:t>A função header('location:index.php') envia o navegador de volta para a tela inicial de login.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Conclusão do Projeto</a:t>
            </a:r>
          </a:p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</a:defRPr>
            </a:pPr>
            <a:r>
              <a:rPr sz="1600"/>
              <a:t>• Arquitetura Modular: </a:t>
            </a:r>
            <a:r>
              <a:rPr sz="1600" b="0">
                <a:solidFill>
                  <a:srgbClr val="0F172A"/>
                </a:solidFill>
              </a:rPr>
              <a:t>Código desacoplado e de fácil manutenção utilizando require_once para componentes vitais e conexões.</a:t>
            </a:r>
          </a:p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</a:defRPr>
            </a:pPr>
            <a:r>
              <a:rPr sz="1600"/>
              <a:t>• Segurança Efetiva: </a:t>
            </a:r>
            <a:r>
              <a:rPr sz="1600" b="0">
                <a:solidFill>
                  <a:srgbClr val="0F172A"/>
                </a:solidFill>
              </a:rPr>
              <a:t>Uso correto de sessões HTTP no servidor para impedir o bypass de navegação via URL em áreas restritas.</a:t>
            </a:r>
          </a:p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</a:defRPr>
            </a:pPr>
            <a:r>
              <a:rPr sz="1600"/>
              <a:t>• Aplicações Práticas: </a:t>
            </a:r>
            <a:r>
              <a:rPr sz="1600" b="0">
                <a:solidFill>
                  <a:srgbClr val="0F172A"/>
                </a:solidFill>
              </a:rPr>
              <a:t>Domínio de operações completas de CRUD conectadas a banco de dados relacional com PHP e MySQLi.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lang="pt-BR" dirty="0" smtClean="0"/>
              <a:t>DESENVOLVIMENTO DE SISTEMAS </a:t>
            </a:r>
            <a:r>
              <a:rPr smtClean="0"/>
              <a:t>II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Áp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275</TotalTime>
  <Words>962</Words>
  <Application>Microsoft Macintosh PowerPoint</Application>
  <PresentationFormat>Personalizar</PresentationFormat>
  <Paragraphs>94</Paragraphs>
  <Slides>13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Concurso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cp:lastModifiedBy>CORREA</cp:lastModifiedBy>
  <cp:revision>25</cp:revision>
  <dcterms:created xsi:type="dcterms:W3CDTF">2013-01-27T09:14:16Z</dcterms:created>
  <dcterms:modified xsi:type="dcterms:W3CDTF">2026-09-26T20:23:35Z</dcterms:modified>
  <cp:category/>
</cp:coreProperties>
</file>